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file:///E:/Projects/RL-GenRisk-main/README.m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file:///E:/Projects/RL-GenRisk-main/outputs/rlnecessity_20260907_152513_comparison/rl_necessity_summary.csv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file:///E:/Projects/RL-GenRisk-main/outputs/historyablation_20260907_200151_comparison/history_ablation_summary.csv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file:///E:/Projects/RL-GenRisk-main/outputs/morl_vectorq_popart_50ep_20260904_201812_comparison/morl_vs_scalar_frontier_coverage.csv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file:///E:/Projects/RL-GenRisk-main/outputs/preference_bandit_20260908_190650_5seed_extension/preference_bandit_summary.csv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file:///E:/Projects/RL-GenRisk-main/outputs/dual_head_bandit_20260908_210039_comparison/dual_head_summary.csv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file:///E:/Projects/RL-GenRisk-main/outputs/dual_head_bandit_20260908_210039_comparison/dual_head_per_seed.csv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file:///E:/Projects/RL-GenRisk-main/outputs/dual_head_bandit_20260908_210039_comparison/interpolation_smoothness_comparison.csv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hyperlink" Target="file:///E:/Projects/RL-GenRisk-main/outputs/dual_head_bandit_20260908_210039_comparison/dual_minus_scalar_bandit_paired.csv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613/jair.3987" TargetMode="External"/><Relationship Id="rId3" Type="http://schemas.openxmlformats.org/officeDocument/2006/relationships/hyperlink" Target="https://papers.nips.cc/paper_files/paper/2007/hash/4b04a686b0ad13dce35fa99fa4161c65-Abstract.html" TargetMode="External"/><Relationship Id="rId4" Type="http://schemas.openxmlformats.org/officeDocument/2006/relationships/hyperlink" Target="https://doi.org/10.1007/s10458-022-09552-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479B8"/>
          </a:solidFill>
          <a:ln>
            <a:solidFill>
              <a:srgbClr val="14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658368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79B8"/>
                </a:solidFill>
                <a:latin typeface="Microsoft YaHei"/>
              </a:rPr>
              <a:t>RL-GenRisk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07008"/>
            <a:ext cx="8778240" cy="12252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02A43"/>
                </a:solidFill>
                <a:latin typeface="Microsoft YaHei"/>
              </a:rPr>
              <a:t>从序列强化学习到
可按目标偏好切换的基因排序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724912"/>
            <a:ext cx="88696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43B53"/>
                </a:solidFill>
                <a:latin typeface="Microsoft YaHei"/>
              </a:rPr>
              <a:t>阶段性学术汇报：路线依据、问题诊断、实验证据与预期成果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04088" y="3310128"/>
            <a:ext cx="10195560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04088" y="3584448"/>
            <a:ext cx="1188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B8B"/>
                </a:solidFill>
                <a:latin typeface="Microsoft YaHei"/>
              </a:rPr>
              <a:t>核心结论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950208"/>
            <a:ext cx="80467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02A43"/>
                </a:solidFill>
                <a:latin typeface="Microsoft YaHei"/>
              </a:rPr>
              <a:t>两个目标之间确实存在取舍；序列强化学习的必要性不足；
当前证据支持三档固定策略，不支持连续调节目标偏好。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62872" y="3840480"/>
            <a:ext cx="1975104" cy="1389888"/>
          </a:xfrm>
          <a:prstGeom prst="roundRect">
            <a:avLst/>
          </a:prstGeom>
          <a:solidFill>
            <a:srgbClr val="E8F6F3"/>
          </a:solidFill>
          <a:ln>
            <a:solidFill>
              <a:srgbClr val="E8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82328" y="4169663"/>
            <a:ext cx="15361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8B8B"/>
                </a:solidFill>
                <a:latin typeface="Microsoft YaHei"/>
              </a:rPr>
              <a:t>仅使用验证集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82328" y="4590288"/>
            <a:ext cx="15361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2A43"/>
                </a:solidFill>
                <a:latin typeface="Microsoft YaHei"/>
              </a:rPr>
              <a:t>测试集冻结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971032"/>
            <a:ext cx="2011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27D98"/>
                </a:solidFill>
                <a:latin typeface="Microsoft YaHei"/>
              </a:rPr>
              <a:t>2026-09-09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79B8"/>
                </a:solidFill>
                <a:latin typeface="Microsoft YaHei"/>
              </a:rPr>
              <a:t>先看懂指标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530352"/>
            <a:ext cx="11155680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66751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四个核心指标分别在回答什么？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2471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27D98"/>
                </a:solidFill>
                <a:latin typeface="Microsoft YaHei"/>
              </a:rPr>
              <a:t>后续所有图都只是在这四个问题上比较模型。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492240"/>
            <a:ext cx="11155680" cy="0"/>
          </a:xfrm>
          <a:prstGeom prst="line">
            <a:avLst/>
          </a:prstGeom>
          <a:ln w="698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65392"/>
            <a:ext cx="7315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27D98"/>
                </a:solidFill>
                <a:latin typeface="Microsoft YaHei"/>
              </a:rPr>
              <a:t>RL-GenRisk  |  仅训练集/验证集  |  测试集标签冻结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28832" y="653796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27D98"/>
                </a:solidFill>
                <a:latin typeface="Microsoft YaHe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618488"/>
            <a:ext cx="2322576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1618488"/>
            <a:ext cx="2322576" cy="109728"/>
          </a:xfrm>
          <a:prstGeom prst="rect">
            <a:avLst/>
          </a:prstGeom>
          <a:solidFill>
            <a:srgbClr val="1479B8"/>
          </a:solidFill>
          <a:ln>
            <a:solidFill>
              <a:srgbClr val="14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75104"/>
            <a:ext cx="1975104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479B8"/>
                </a:solidFill>
                <a:latin typeface="Microsoft YaHei"/>
              </a:rPr>
              <a:t>排序质量
NDCG@150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9536" y="2779776"/>
            <a:ext cx="1810512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2104" y="3081528"/>
            <a:ext cx="1865376" cy="1353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0">
                <a:solidFill>
                  <a:srgbClr val="243B53"/>
                </a:solidFill>
                <a:latin typeface="Microsoft YaHei"/>
              </a:rPr>
              <a:t>不仅看是否命中，还看命中的已知基因排得是否靠前。
越高越好。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0712" y="1618488"/>
            <a:ext cx="2322576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10712" y="1618488"/>
            <a:ext cx="2322576" cy="109728"/>
          </a:xfrm>
          <a:prstGeom prst="rect">
            <a:avLst/>
          </a:prstGeom>
          <a:solidFill>
            <a:srgbClr val="3FA8C9"/>
          </a:solidFill>
          <a:ln>
            <a:solidFill>
              <a:srgbClr val="3FA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1975104"/>
            <a:ext cx="1975104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FA8C9"/>
                </a:solidFill>
                <a:latin typeface="Microsoft YaHei"/>
              </a:rPr>
              <a:t>找回比例
Recall@150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66744" y="2779776"/>
            <a:ext cx="1810512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39312" y="3081528"/>
            <a:ext cx="1865376" cy="1353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0">
                <a:solidFill>
                  <a:srgbClr val="243B53"/>
                </a:solidFill>
                <a:latin typeface="Microsoft YaHei"/>
              </a:rPr>
              <a:t>Top-150 找回了多少验证集已知基因。
验证集共25个，每多命中1个就增加0.04。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18488"/>
            <a:ext cx="2322576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618488"/>
            <a:ext cx="2322576" cy="109728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1975104"/>
            <a:ext cx="1975104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8B8B"/>
                </a:solidFill>
                <a:latin typeface="Microsoft YaHei"/>
              </a:rPr>
              <a:t>新候选精度
高证据比例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73952" y="2779776"/>
            <a:ext cx="1810511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46520" y="3081528"/>
            <a:ext cx="1865376" cy="1353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0">
                <a:solidFill>
                  <a:srgbClr val="243B53"/>
                </a:solidFill>
                <a:latin typeface="Microsoft YaHei"/>
              </a:rPr>
              <a:t>低频、未标注候选中，有多少具备预先定义的高证据。
越高越好。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5128" y="1618488"/>
            <a:ext cx="2322576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25128" y="1618488"/>
            <a:ext cx="2322576" cy="109728"/>
          </a:xfrm>
          <a:prstGeom prst="rect">
            <a:avLst/>
          </a:prstGeom>
          <a:solidFill>
            <a:srgbClr val="E08A31"/>
          </a:solidFill>
          <a:ln>
            <a:solidFill>
              <a:srgbClr val="E0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98863" y="1975104"/>
            <a:ext cx="1975104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E08A31"/>
                </a:solidFill>
                <a:latin typeface="Microsoft YaHei"/>
              </a:rPr>
              <a:t>富集倍数
相对随机水平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81159" y="2779776"/>
            <a:ext cx="1810513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253728" y="3081528"/>
            <a:ext cx="1865376" cy="1353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0">
                <a:solidFill>
                  <a:srgbClr val="243B53"/>
                </a:solidFill>
                <a:latin typeface="Microsoft YaHei"/>
              </a:rPr>
              <a:t>相对于候选池随机水平，高证据候选增加了多少倍。
大于1才表示富集。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5404104"/>
            <a:ext cx="10716768" cy="466344"/>
          </a:xfrm>
          <a:prstGeom prst="roundRect">
            <a:avLst/>
          </a:prstGeom>
          <a:solidFill>
            <a:srgbClr val="FCEEEE"/>
          </a:solidFill>
          <a:ln>
            <a:solidFill>
              <a:srgbClr val="FC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5541264"/>
            <a:ext cx="10241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C94C4C"/>
                </a:solidFill>
                <a:latin typeface="Microsoft YaHei"/>
              </a:rPr>
              <a:t>注意：这些都是验证集指标。它们用于比较方案，不等同于临床有效性或实验室证实。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79B8"/>
                </a:solidFill>
                <a:latin typeface="Microsoft YaHei"/>
              </a:rPr>
              <a:t>先看懂模型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530352"/>
            <a:ext cx="11155680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66751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几个反复出现的模型术语，用一句话怎么理解？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6492240"/>
            <a:ext cx="11155680" cy="0"/>
          </a:xfrm>
          <a:prstGeom prst="line">
            <a:avLst/>
          </a:prstGeom>
          <a:ln w="698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" y="6565392"/>
            <a:ext cx="7315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27D98"/>
                </a:solidFill>
                <a:latin typeface="Microsoft YaHei"/>
              </a:rPr>
              <a:t>RL-GenRisk  |  仅训练集/验证集  |  测试集标签冻结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53796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27D98"/>
                </a:solidFill>
                <a:latin typeface="Microsoft Ya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17904"/>
            <a:ext cx="2898648" cy="7863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17904"/>
            <a:ext cx="73152" cy="786384"/>
          </a:xfrm>
          <a:prstGeom prst="rect">
            <a:avLst/>
          </a:prstGeom>
          <a:solidFill>
            <a:srgbClr val="1479B8"/>
          </a:solidFill>
          <a:ln>
            <a:solidFill>
              <a:srgbClr val="14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64207"/>
            <a:ext cx="240487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1479B8"/>
                </a:solidFill>
                <a:latin typeface="Microsoft YaHei"/>
              </a:rPr>
              <a:t>双深度Q网络（DDQN）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3904" y="1618488"/>
            <a:ext cx="5193792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243B53"/>
                </a:solidFill>
                <a:latin typeface="Microsoft YaHei"/>
              </a:rPr>
              <a:t>不仅学习当前动作的奖励，还估计它对后续选择的影响。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99448" y="1609344"/>
            <a:ext cx="1956816" cy="502920"/>
          </a:xfrm>
          <a:prstGeom prst="roundRect">
            <a:avLst/>
          </a:prstGeom>
          <a:solidFill>
            <a:srgbClr val="EAF3FA"/>
          </a:solidFill>
          <a:ln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36608" y="1737360"/>
            <a:ext cx="16824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>
                <a:solidFill>
                  <a:srgbClr val="102A43"/>
                </a:solidFill>
                <a:latin typeface="Microsoft YaHei"/>
              </a:rPr>
              <a:t>包含“下一状态估值”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587752"/>
            <a:ext cx="2898648" cy="7863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587752"/>
            <a:ext cx="73152" cy="786384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734056"/>
            <a:ext cx="240487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008B8B"/>
                </a:solidFill>
                <a:latin typeface="Microsoft YaHei"/>
              </a:rPr>
              <a:t>即时价值模型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2688336"/>
            <a:ext cx="5193792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243B53"/>
                </a:solidFill>
                <a:latin typeface="Microsoft YaHei"/>
              </a:rPr>
              <a:t>根据当前信息直接判断某个基因值不值得选。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9448" y="2679192"/>
            <a:ext cx="1956816" cy="502920"/>
          </a:xfrm>
          <a:prstGeom prst="roundRect">
            <a:avLst/>
          </a:prstGeom>
          <a:solidFill>
            <a:srgbClr val="EAF3FA"/>
          </a:solidFill>
          <a:ln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6608" y="2807208"/>
            <a:ext cx="16824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>
                <a:solidFill>
                  <a:srgbClr val="102A43"/>
                </a:solidFill>
                <a:latin typeface="Microsoft YaHei"/>
              </a:rPr>
              <a:t>不估计未来回报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57600"/>
            <a:ext cx="2898648" cy="7863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657600"/>
            <a:ext cx="73152" cy="786384"/>
          </a:xfrm>
          <a:prstGeom prst="rect">
            <a:avLst/>
          </a:prstGeom>
          <a:solidFill>
            <a:srgbClr val="E08A31"/>
          </a:solidFill>
          <a:ln>
            <a:solidFill>
              <a:srgbClr val="E0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03904"/>
            <a:ext cx="240487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E08A31"/>
                </a:solidFill>
                <a:latin typeface="Microsoft YaHei"/>
              </a:rPr>
              <a:t>多目标强化学习（MORL）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3904" y="3758184"/>
            <a:ext cx="5193792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243B53"/>
                </a:solidFill>
                <a:latin typeface="Microsoft YaHei"/>
              </a:rPr>
              <a:t>同时处理“找回已知”和“发现新候选”两个互相冲突的目标。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99448" y="3749039"/>
            <a:ext cx="1956816" cy="502920"/>
          </a:xfrm>
          <a:prstGeom prst="roundRect">
            <a:avLst/>
          </a:prstGeom>
          <a:solidFill>
            <a:srgbClr val="FFF4E5"/>
          </a:solidFill>
          <a:ln>
            <a:solidFill>
              <a:srgbClr val="FFF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6608" y="3877056"/>
            <a:ext cx="16824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>
                <a:solidFill>
                  <a:srgbClr val="102A43"/>
                </a:solidFill>
                <a:latin typeface="Microsoft YaHei"/>
              </a:rPr>
              <a:t>理想上输出多种取舍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27448"/>
            <a:ext cx="2898648" cy="7863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27448"/>
            <a:ext cx="73152" cy="786384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873752"/>
            <a:ext cx="240487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102A43"/>
                </a:solidFill>
                <a:latin typeface="Microsoft YaHei"/>
              </a:rPr>
              <a:t>偏好权重 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03904" y="4828032"/>
            <a:ext cx="5193792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243B53"/>
                </a:solidFill>
                <a:latin typeface="Microsoft YaHei"/>
              </a:rPr>
              <a:t>两个数字表示使用者更重视哪个目标，例如(0.8,0.2)。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99448" y="4818888"/>
            <a:ext cx="1956816" cy="502920"/>
          </a:xfrm>
          <a:prstGeom prst="roundRect">
            <a:avLst/>
          </a:prstGeom>
          <a:solidFill>
            <a:srgbClr val="EAF3FA"/>
          </a:solidFill>
          <a:ln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36608" y="4946904"/>
            <a:ext cx="16824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>
                <a:solidFill>
                  <a:srgbClr val="102A43"/>
                </a:solidFill>
                <a:latin typeface="Microsoft YaHei"/>
              </a:rPr>
              <a:t>数字之和为1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" y="5852160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27D98"/>
                </a:solidFill>
                <a:latin typeface="Microsoft YaHei"/>
              </a:rPr>
              <a:t>随机种子：改变模型初始化和采样随机性的编号；多个随机种子方向一致，结果才更可信。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79B8"/>
                </a:solidFill>
                <a:latin typeface="Microsoft YaHei"/>
              </a:rPr>
              <a:t>阶段结论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530352"/>
            <a:ext cx="11155680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66751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一句话状态：路线已经从“修强化学习”转为“验证更简单的排序模型”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6492240"/>
            <a:ext cx="11155680" cy="0"/>
          </a:xfrm>
          <a:prstGeom prst="line">
            <a:avLst/>
          </a:prstGeom>
          <a:ln w="698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" y="6565392"/>
            <a:ext cx="7315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27D98"/>
                </a:solidFill>
                <a:latin typeface="Microsoft YaHei"/>
              </a:rPr>
              <a:t>RL-GenRisk  |  仅训练集/验证集  |  测试集标签冻结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53796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27D98"/>
                </a:solidFill>
                <a:latin typeface="Microsoft YaHe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45336"/>
            <a:ext cx="2670048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45336"/>
            <a:ext cx="64008" cy="150876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46504"/>
            <a:ext cx="22585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27D98"/>
                </a:solidFill>
                <a:latin typeface="Aptos"/>
              </a:rPr>
              <a:t>已确认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057400"/>
            <a:ext cx="2258568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02A43"/>
                </a:solidFill>
                <a:latin typeface="Aptos"/>
              </a:rPr>
              <a:t>权衡存在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532888"/>
            <a:ext cx="225856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27D98"/>
                </a:solidFill>
                <a:latin typeface="Aptos"/>
              </a:rPr>
              <a:t>已知基因找回 权重下降时，新候选发现 指标整体上升。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1545336"/>
            <a:ext cx="2670048" cy="1508760"/>
          </a:xfrm>
          <a:prstGeom prst="roundRect">
            <a:avLst/>
          </a:prstGeom>
          <a:solidFill>
            <a:srgbClr val="FCEEEE"/>
          </a:solidFill>
          <a:ln>
            <a:solidFill>
              <a:srgbClr val="FC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10712" y="1545336"/>
            <a:ext cx="64008" cy="1508760"/>
          </a:xfrm>
          <a:prstGeom prst="rect">
            <a:avLst/>
          </a:prstGeom>
          <a:solidFill>
            <a:srgbClr val="C94C4C"/>
          </a:solidFill>
          <a:ln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1746504"/>
            <a:ext cx="22585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27D98"/>
                </a:solidFill>
                <a:latin typeface="Aptos"/>
              </a:rPr>
              <a:t>已否定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057400"/>
            <a:ext cx="2258568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C94C4C"/>
                </a:solidFill>
                <a:latin typeface="Aptos"/>
              </a:rPr>
              <a:t>序列优势不足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532888"/>
            <a:ext cx="225856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27D98"/>
                </a:solidFill>
                <a:latin typeface="Aptos"/>
              </a:rPr>
              <a:t>DDQN 未稳定优于 即时价值模型；真实 已选基因历史 也未稳定胜出。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1545336"/>
            <a:ext cx="2670048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1545336"/>
            <a:ext cx="64008" cy="1508760"/>
          </a:xfrm>
          <a:prstGeom prst="rect">
            <a:avLst/>
          </a:prstGeom>
          <a:solidFill>
            <a:srgbClr val="1479B8"/>
          </a:solidFill>
          <a:ln>
            <a:solidFill>
              <a:srgbClr val="14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1746504"/>
            <a:ext cx="22585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27D98"/>
                </a:solidFill>
                <a:latin typeface="Aptos"/>
              </a:rPr>
              <a:t>最新结果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2057400"/>
            <a:ext cx="2258568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02A43"/>
                </a:solidFill>
                <a:latin typeface="Aptos"/>
              </a:rPr>
              <a:t>双输出 有效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2532888"/>
            <a:ext cx="225856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27D98"/>
                </a:solidFill>
                <a:latin typeface="Aptos"/>
              </a:rPr>
              <a:t>已知基因找回/新候选发现 分离更清楚，但插值未更平滑。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545336"/>
            <a:ext cx="2505456" cy="1508760"/>
          </a:xfrm>
          <a:prstGeom prst="roundRect">
            <a:avLst/>
          </a:prstGeom>
          <a:solidFill>
            <a:srgbClr val="FCEEEE"/>
          </a:solidFill>
          <a:ln>
            <a:solidFill>
              <a:srgbClr val="FC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545336"/>
            <a:ext cx="64008" cy="1508760"/>
          </a:xfrm>
          <a:prstGeom prst="rect">
            <a:avLst/>
          </a:prstGeom>
          <a:solidFill>
            <a:srgbClr val="C94C4C"/>
          </a:solidFill>
          <a:ln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746504"/>
            <a:ext cx="20939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27D98"/>
                </a:solidFill>
                <a:latin typeface="Aptos"/>
              </a:rPr>
              <a:t>当前决策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057400"/>
            <a:ext cx="2093976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C94C4C"/>
                </a:solidFill>
                <a:latin typeface="Aptos"/>
              </a:rPr>
              <a:t>固定三档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532888"/>
            <a:ext cx="2093976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27D98"/>
                </a:solidFill>
                <a:latin typeface="Aptos"/>
              </a:rPr>
              <a:t>不扩 5 随机种子；不继续追求连续 偏好权重。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3584448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A43"/>
                </a:solidFill>
                <a:latin typeface="Microsoft YaHei"/>
              </a:rPr>
              <a:t>阶段性贡献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" y="4087368"/>
            <a:ext cx="91440" cy="91440"/>
          </a:xfrm>
          <a:prstGeom prst="rect">
            <a:avLst/>
          </a:prstGeom>
          <a:solidFill>
            <a:srgbClr val="1479B8"/>
          </a:solidFill>
          <a:ln>
            <a:solidFill>
              <a:srgbClr val="14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5" y="3986784"/>
            <a:ext cx="104241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43B53"/>
                </a:solidFill>
                <a:latin typeface="Aptos"/>
              </a:rPr>
              <a:t>建立了可审计的 训练集/验证集/测试集 隔离与统一 逐步贪心生成排序 评价协议。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" y="4626864"/>
            <a:ext cx="91440" cy="91440"/>
          </a:xfrm>
          <a:prstGeom prst="rect">
            <a:avLst/>
          </a:prstGeom>
          <a:solidFill>
            <a:srgbClr val="1479B8"/>
          </a:solidFill>
          <a:ln>
            <a:solidFill>
              <a:srgbClr val="14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5" y="4526280"/>
            <a:ext cx="104241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43B53"/>
                </a:solidFill>
                <a:latin typeface="Aptos"/>
              </a:rPr>
              <a:t>通过消融逐步排除了 训练奖励 调参、下一状态估值 和历史状态作为主要收益来源。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" y="5166360"/>
            <a:ext cx="91440" cy="91440"/>
          </a:xfrm>
          <a:prstGeom prst="rect">
            <a:avLst/>
          </a:prstGeom>
          <a:solidFill>
            <a:srgbClr val="1479B8"/>
          </a:solidFill>
          <a:ln>
            <a:solidFill>
              <a:srgbClr val="14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5" y="5065776"/>
            <a:ext cx="104241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43B53"/>
                </a:solidFill>
                <a:latin typeface="Aptos"/>
              </a:rPr>
              <a:t>得到一个可解释的双即时价值模型，并明确识别其连续控制与跨 随机种子 稳定性边界。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760720"/>
            <a:ext cx="8229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94C4C"/>
                </a:solidFill>
                <a:latin typeface="Microsoft YaHei"/>
              </a:rPr>
              <a:t>注意：n=2/n=3 结果仅作描述性比较，不声称统计显著。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79B8"/>
                </a:solidFill>
                <a:latin typeface="Microsoft YaHei"/>
              </a:rPr>
              <a:t>研究背景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530352"/>
            <a:ext cx="11155680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66751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背景：癌症驱动基因排序同时面对“找回已知”和“发现新候选”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6492240"/>
            <a:ext cx="11155680" cy="0"/>
          </a:xfrm>
          <a:prstGeom prst="line">
            <a:avLst/>
          </a:prstGeom>
          <a:ln w="698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" y="6565392"/>
            <a:ext cx="7315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27D98"/>
                </a:solidFill>
                <a:latin typeface="Microsoft YaHei"/>
              </a:rPr>
              <a:t>RL-GenRisk  |  仅训练集/验证集  |  测试集标签冻结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53796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27D98"/>
                </a:solidFill>
                <a:latin typeface="Microsoft Ya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45336"/>
            <a:ext cx="3246120" cy="3337560"/>
          </a:xfrm>
          <a:prstGeom prst="roundRect">
            <a:avLst/>
          </a:prstGeom>
          <a:solidFill>
            <a:srgbClr val="EAF3FA"/>
          </a:solidFill>
          <a:ln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37943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479B8"/>
                </a:solidFill>
                <a:latin typeface="Microsoft YaHei"/>
              </a:rPr>
              <a:t>已知基因找回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25603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2A43"/>
                </a:solidFill>
                <a:latin typeface="Microsoft YaHei"/>
              </a:rPr>
              <a:t>把 验证集 中已知 驱动基因
排进 Top-150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227832"/>
            <a:ext cx="248716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27D98"/>
                </a:solidFill>
                <a:latin typeface="Microsoft YaHei"/>
              </a:rPr>
              <a:t>NDCG@150 · Recall@150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03904"/>
            <a:ext cx="251460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243B53"/>
                </a:solidFill>
                <a:latin typeface="Microsoft YaHei"/>
              </a:rPr>
              <a:t>优点：评价清楚
风险：标签偏向高突变基因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1416" y="1545336"/>
            <a:ext cx="3246120" cy="3337560"/>
          </a:xfrm>
          <a:prstGeom prst="roundRect">
            <a:avLst/>
          </a:prstGeom>
          <a:solidFill>
            <a:srgbClr val="E8F6F3"/>
          </a:solidFill>
          <a:ln>
            <a:solidFill>
              <a:srgbClr val="E8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4024" y="1837943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008B8B"/>
                </a:solidFill>
                <a:latin typeface="Microsoft YaHei"/>
              </a:rPr>
              <a:t>新候选发现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2386584"/>
            <a:ext cx="25603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2A43"/>
                </a:solidFill>
                <a:latin typeface="Microsoft YaHei"/>
              </a:rPr>
              <a:t>从低频未标注基因中
优先找到有证据候选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227832"/>
            <a:ext cx="248716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27D98"/>
                </a:solidFill>
                <a:latin typeface="Microsoft YaHei"/>
              </a:rPr>
              <a:t>高证据比例 · 富集倍数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3803904"/>
            <a:ext cx="251460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243B53"/>
                </a:solidFill>
                <a:latin typeface="Microsoft YaHei"/>
              </a:rPr>
              <a:t>优点：面向新发现
风险：证据代理不等于真实 驱动基因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2" y="1545336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837943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E08A31"/>
                </a:solidFill>
                <a:latin typeface="Microsoft YaHei"/>
              </a:rPr>
              <a:t>核心矛盾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386584"/>
            <a:ext cx="25603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2A43"/>
                </a:solidFill>
                <a:latin typeface="Microsoft YaHei"/>
              </a:rPr>
              <a:t>一个排序很难同时把
两类目标都做到最大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1936" y="3227832"/>
            <a:ext cx="248716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27D98"/>
                </a:solidFill>
                <a:latin typeface="Microsoft YaHei"/>
              </a:rPr>
              <a:t>需要显式表示使用者偏好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3803904"/>
            <a:ext cx="251460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243B53"/>
                </a:solidFill>
                <a:latin typeface="Microsoft YaHei"/>
              </a:rPr>
              <a:t>这就是“目标加权”与
多目标强化学习的由来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285232"/>
            <a:ext cx="10881360" cy="594360"/>
          </a:xfrm>
          <a:prstGeom prst="roundRect">
            <a:avLst/>
          </a:prstGeom>
          <a:solidFill>
            <a:srgbClr val="FCEEEE"/>
          </a:solidFill>
          <a:ln>
            <a:solidFill>
              <a:srgbClr val="FC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477256"/>
            <a:ext cx="10378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C94C4C"/>
                </a:solidFill>
                <a:latin typeface="Microsoft YaHei"/>
              </a:rPr>
              <a:t>目标不是证明某个复杂模型最好，而是找到在偏置标签下仍可解释、稳定、可复现的取舍机制。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79B8"/>
                </a:solidFill>
                <a:latin typeface="Microsoft YaHei"/>
              </a:rPr>
              <a:t>为什么需要双目标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530352"/>
            <a:ext cx="11155680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66751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为什么不能只追 已知基因找回：已知标签天然集中在高突变频率端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6492240"/>
            <a:ext cx="11155680" cy="0"/>
          </a:xfrm>
          <a:prstGeom prst="line">
            <a:avLst/>
          </a:prstGeom>
          <a:ln w="698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" y="6565392"/>
            <a:ext cx="7315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27D98"/>
                </a:solidFill>
                <a:latin typeface="Microsoft YaHei"/>
              </a:rPr>
              <a:t>RL-GenRisk  |  仅训练集/验证集  |  测试集标签冻结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53796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27D98"/>
                </a:solidFill>
                <a:latin typeface="Microsoft YaHei"/>
              </a:rPr>
              <a:t>06</a:t>
            </a:r>
          </a:p>
        </p:txBody>
      </p:sp>
      <p:pic>
        <p:nvPicPr>
          <p:cNvPr id="8" name="Picture 7" descr="01_label_frequency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99616"/>
            <a:ext cx="6675120" cy="30906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360" y="1554480"/>
            <a:ext cx="4096512" cy="3008376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847088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79B8"/>
                </a:solidFill>
                <a:latin typeface="Microsoft YaHei"/>
              </a:rPr>
              <a:t>审计事实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221992"/>
            <a:ext cx="3438144" cy="16276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243B53"/>
                </a:solidFill>
                <a:latin typeface="Aptos"/>
              </a:rPr>
              <a:t>训练集 / 验证集 的突变频率百分位中位数分别为 99.8% / 98.5%。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94C4C"/>
                </a:solidFill>
                <a:latin typeface="Aptos"/>
              </a:rPr>
              <a:t>静态 突变频率 排序可命中 13/25 个 验证集 驱动基因。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243B53"/>
                </a:solidFill>
                <a:latin typeface="Aptos"/>
              </a:rPr>
              <a:t>因此 已知基因找回 高分可能部分来自复现标签频率偏置，而非学习新的机制。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956048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08A31"/>
                </a:solidFill>
                <a:latin typeface="Microsoft YaHei"/>
              </a:rPr>
              <a:t>推论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5285232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43B53"/>
                </a:solidFill>
                <a:latin typeface="Microsoft YaHei"/>
              </a:rPr>
              <a:t>需要同时报告 新候选发现 富集程度，并始终把 突变频率 作为强 已知基因找回 基线；不能只用 NDCG 宣称发现能力。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144768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  <a:hlinkClick r:id="rId3"/>
              </a:rPr>
              <a:t>数据源：README.md — RL 学习回路审计与标签频率偏置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79B8"/>
                </a:solidFill>
                <a:latin typeface="Microsoft YaHei"/>
              </a:rPr>
              <a:t>最初假设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530352"/>
            <a:ext cx="11155680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66751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为什么最初选择序列强化学习：排序过程可能具有真实的集合历史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6492240"/>
            <a:ext cx="11155680" cy="0"/>
          </a:xfrm>
          <a:prstGeom prst="line">
            <a:avLst/>
          </a:prstGeom>
          <a:ln w="698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" y="6565392"/>
            <a:ext cx="7315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27D98"/>
                </a:solidFill>
                <a:latin typeface="Microsoft YaHei"/>
              </a:rPr>
              <a:t>RL-GenRisk  |  仅训练集/验证集  |  测试集标签冻结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53796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27D98"/>
                </a:solidFill>
                <a:latin typeface="Microsoft YaHe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883664"/>
            <a:ext cx="2276856" cy="2084831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1883664"/>
            <a:ext cx="2276856" cy="100584"/>
          </a:xfrm>
          <a:prstGeom prst="rect">
            <a:avLst/>
          </a:prstGeom>
          <a:solidFill>
            <a:srgbClr val="1479B8"/>
          </a:solidFill>
          <a:ln>
            <a:solidFill>
              <a:srgbClr val="14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295144"/>
            <a:ext cx="19202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79B8"/>
                </a:solidFill>
                <a:latin typeface="Microsoft YaHei"/>
              </a:rPr>
              <a:t>多组学 + PPI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19202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A43"/>
                </a:solidFill>
                <a:latin typeface="Microsoft YaHei"/>
              </a:rPr>
              <a:t>每个基因的
静态证据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16936" y="2926080"/>
            <a:ext cx="402336" cy="0"/>
          </a:xfrm>
          <a:prstGeom prst="line">
            <a:avLst/>
          </a:prstGeom>
          <a:ln w="215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47288" y="1883664"/>
            <a:ext cx="2276856" cy="2084831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7288" y="1883664"/>
            <a:ext cx="2276856" cy="100584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295144"/>
            <a:ext cx="19202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8B8B"/>
                </a:solidFill>
                <a:latin typeface="Microsoft YaHei"/>
              </a:rPr>
              <a:t>当前已选集合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834640"/>
            <a:ext cx="19202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A43"/>
                </a:solidFill>
                <a:latin typeface="Microsoft YaHei"/>
              </a:rPr>
              <a:t>覆盖患者、网络邻域、
互补性随步骤变化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51576" y="2926080"/>
            <a:ext cx="402336" cy="0"/>
          </a:xfrm>
          <a:prstGeom prst="line">
            <a:avLst/>
          </a:prstGeom>
          <a:ln w="215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81928" y="1883664"/>
            <a:ext cx="2276856" cy="2084831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1928" y="1883664"/>
            <a:ext cx="2276856" cy="100584"/>
          </a:xfrm>
          <a:prstGeom prst="rect">
            <a:avLst/>
          </a:prstGeom>
          <a:solidFill>
            <a:srgbClr val="E08A31"/>
          </a:solidFill>
          <a:ln>
            <a:solidFill>
              <a:srgbClr val="E0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295144"/>
            <a:ext cx="19202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E08A31"/>
                </a:solidFill>
                <a:latin typeface="Microsoft YaHei"/>
              </a:rPr>
              <a:t>选择下一个基因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834640"/>
            <a:ext cx="19202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A43"/>
                </a:solidFill>
                <a:latin typeface="Microsoft YaHei"/>
              </a:rPr>
              <a:t>最大化当前增量
而非独立打分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86216" y="2926080"/>
            <a:ext cx="402336" cy="0"/>
          </a:xfrm>
          <a:prstGeom prst="line">
            <a:avLst/>
          </a:prstGeom>
          <a:ln w="215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16568" y="1883664"/>
            <a:ext cx="2276856" cy="2084831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16568" y="1883664"/>
            <a:ext cx="2276856" cy="100584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0304" y="2295144"/>
            <a:ext cx="19202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2A43"/>
                </a:solidFill>
                <a:latin typeface="Microsoft YaHei"/>
              </a:rPr>
              <a:t>Top-150 列表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2834640"/>
            <a:ext cx="19202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A43"/>
                </a:solidFill>
                <a:latin typeface="Microsoft YaHei"/>
              </a:rPr>
              <a:t>形成有顺序的
候选组合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" y="4681728"/>
            <a:ext cx="10753344" cy="932688"/>
          </a:xfrm>
          <a:prstGeom prst="roundRect">
            <a:avLst/>
          </a:prstGeom>
          <a:solidFill>
            <a:srgbClr val="EAF3FA"/>
          </a:solidFill>
          <a:ln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901184"/>
            <a:ext cx="1280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79B8"/>
                </a:solidFill>
                <a:latin typeface="Microsoft YaHei"/>
              </a:rPr>
              <a:t>合理性边界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4855464"/>
            <a:ext cx="89154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A43"/>
                </a:solidFill>
                <a:latin typeface="Microsoft YaHei"/>
              </a:rPr>
              <a:t>只有当真实 已选基因历史 稳定提升排序、并且 DDQN 胜过不含 下一状态估值 的 即时价值模型 时，序列 Q值学习 才是必要的。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294376"/>
            <a:ext cx="749807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27D98"/>
                </a:solidFill>
                <a:latin typeface="Microsoft YaHei"/>
              </a:rPr>
              <a:t>后续实验正是围绕这两个可证伪条件展开。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79B8"/>
                </a:solidFill>
                <a:latin typeface="Microsoft YaHei"/>
              </a:rPr>
              <a:t>证据驱动的路线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530352"/>
            <a:ext cx="11155680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66751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这条路线是如何找到的：每次转向都由一个失败假设触发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6492240"/>
            <a:ext cx="11155680" cy="0"/>
          </a:xfrm>
          <a:prstGeom prst="line">
            <a:avLst/>
          </a:prstGeom>
          <a:ln w="698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" y="6565392"/>
            <a:ext cx="7315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27D98"/>
                </a:solidFill>
                <a:latin typeface="Microsoft YaHei"/>
              </a:rPr>
              <a:t>RL-GenRisk  |  仅训练集/验证集  |  测试集标签冻结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53796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27D98"/>
                </a:solidFill>
                <a:latin typeface="Microsoft Ya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874519"/>
            <a:ext cx="1636776" cy="23317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" y="1874519"/>
            <a:ext cx="1636776" cy="100584"/>
          </a:xfrm>
          <a:prstGeom prst="rect">
            <a:avLst/>
          </a:prstGeom>
          <a:solidFill>
            <a:srgbClr val="1479B8"/>
          </a:solidFill>
          <a:ln>
            <a:solidFill>
              <a:srgbClr val="14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57984"/>
            <a:ext cx="384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79B8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542032"/>
            <a:ext cx="1353312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2A43"/>
                </a:solidFill>
                <a:latin typeface="Microsoft YaHei"/>
              </a:rPr>
              <a:t>修复 强化学习回路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3218688"/>
            <a:ext cx="1353312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训练奖励 缩放、PER、
梯度裁剪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67128" y="3017520"/>
            <a:ext cx="201168" cy="0"/>
          </a:xfrm>
          <a:prstGeom prst="line">
            <a:avLst/>
          </a:prstGeom>
          <a:ln w="1778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23160" y="1874519"/>
            <a:ext cx="1636776" cy="23317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23160" y="1874519"/>
            <a:ext cx="1636776" cy="100584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51176" y="2157984"/>
            <a:ext cx="384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B8B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542032"/>
            <a:ext cx="1353312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2A43"/>
                </a:solidFill>
                <a:latin typeface="Microsoft YaHei"/>
              </a:rPr>
              <a:t>统一 逐步生成排序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218688"/>
            <a:ext cx="1353312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避免 一次性打分
偏离序列决策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78224" y="3017520"/>
            <a:ext cx="201168" cy="0"/>
          </a:xfrm>
          <a:prstGeom prst="line">
            <a:avLst/>
          </a:prstGeom>
          <a:ln w="1778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874519"/>
            <a:ext cx="1636776" cy="23317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34256" y="1874519"/>
            <a:ext cx="1636776" cy="100584"/>
          </a:xfrm>
          <a:prstGeom prst="rect">
            <a:avLst/>
          </a:prstGeom>
          <a:solidFill>
            <a:srgbClr val="E08A31"/>
          </a:solidFill>
          <a:ln>
            <a:solidFill>
              <a:srgbClr val="E0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2157984"/>
            <a:ext cx="384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08A31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2542032"/>
            <a:ext cx="1353312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2A43"/>
                </a:solidFill>
                <a:latin typeface="Microsoft YaHei"/>
              </a:rPr>
              <a:t>单独权重扫描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1416" y="3218688"/>
            <a:ext cx="1353312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确认两目标
此消彼长的权衡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89320" y="3017520"/>
            <a:ext cx="201168" cy="0"/>
          </a:xfrm>
          <a:prstGeom prst="line">
            <a:avLst/>
          </a:prstGeom>
          <a:ln w="1778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45352" y="1874519"/>
            <a:ext cx="1636776" cy="23317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45352" y="1874519"/>
            <a:ext cx="1636776" cy="100584"/>
          </a:xfrm>
          <a:prstGeom prst="rect">
            <a:avLst/>
          </a:prstGeom>
          <a:solidFill>
            <a:srgbClr val="C94C4C"/>
          </a:solidFill>
          <a:ln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2157984"/>
            <a:ext cx="384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4C4C"/>
                </a:solidFill>
                <a:latin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2542032"/>
            <a:ext cx="1353312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2A43"/>
                </a:solidFill>
                <a:latin typeface="Microsoft YaHei"/>
              </a:rPr>
              <a:t>共享 MORL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3218688"/>
            <a:ext cx="1353312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出现 偏好条件输入 /
尺度与冲突问题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00416" y="3017520"/>
            <a:ext cx="201167" cy="0"/>
          </a:xfrm>
          <a:prstGeom prst="line">
            <a:avLst/>
          </a:prstGeom>
          <a:ln w="1778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56448" y="1874519"/>
            <a:ext cx="1636776" cy="23317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56448" y="1874519"/>
            <a:ext cx="1636776" cy="100584"/>
          </a:xfrm>
          <a:prstGeom prst="rect">
            <a:avLst/>
          </a:prstGeom>
          <a:solidFill>
            <a:srgbClr val="1479B8"/>
          </a:solidFill>
          <a:ln>
            <a:solidFill>
              <a:srgbClr val="14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4464" y="2157984"/>
            <a:ext cx="384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79B8"/>
                </a:solidFill>
                <a:latin typeface="Microsoft YaHe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8" y="2542032"/>
            <a:ext cx="1353312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2A43"/>
                </a:solidFill>
                <a:latin typeface="Microsoft YaHei"/>
              </a:rPr>
              <a:t>强化学习必要性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8" y="3218688"/>
            <a:ext cx="1353312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即时价值模型与历史状态
消融否定复杂性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11512" y="3017520"/>
            <a:ext cx="201168" cy="0"/>
          </a:xfrm>
          <a:prstGeom prst="line">
            <a:avLst/>
          </a:prstGeom>
          <a:ln w="1778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067544" y="1874519"/>
            <a:ext cx="1636776" cy="23317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67544" y="1874519"/>
            <a:ext cx="1636776" cy="100584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95560" y="2157984"/>
            <a:ext cx="384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B8B"/>
                </a:solidFill>
                <a:latin typeface="Microsoft YaHei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04704" y="2542032"/>
            <a:ext cx="1353312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2A43"/>
                </a:solidFill>
                <a:latin typeface="Microsoft YaHei"/>
              </a:rPr>
              <a:t>双输出 即时价值模型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04704" y="3218688"/>
            <a:ext cx="1353312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权衡恢复，
连续插值仍不稳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4736592"/>
            <a:ext cx="10753344" cy="868680"/>
          </a:xfrm>
          <a:prstGeom prst="roundRect">
            <a:avLst/>
          </a:prstGeom>
          <a:solidFill>
            <a:srgbClr val="E8F6F3"/>
          </a:solidFill>
          <a:ln>
            <a:solidFill>
              <a:srgbClr val="E8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83480"/>
            <a:ext cx="1143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B8B"/>
                </a:solidFill>
                <a:latin typeface="Microsoft YaHei"/>
              </a:rPr>
              <a:t>当前主线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39112" y="4919472"/>
            <a:ext cx="888796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A43"/>
                </a:solidFill>
                <a:latin typeface="Microsoft YaHei"/>
              </a:rPr>
              <a:t>从“复杂模型不断补丁”切换为“最小充分模型”：先证明即时双目标价值有用，再限定成可靠的离散策略。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79B8"/>
                </a:solidFill>
                <a:latin typeface="Microsoft YaHei"/>
              </a:rPr>
              <a:t>问题一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530352"/>
            <a:ext cx="11155680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66751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问题一：DDQN 的 下一状态估值 没有带来稳定额外收益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6492240"/>
            <a:ext cx="11155680" cy="0"/>
          </a:xfrm>
          <a:prstGeom prst="line">
            <a:avLst/>
          </a:prstGeom>
          <a:ln w="698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" y="6565392"/>
            <a:ext cx="7315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27D98"/>
                </a:solidFill>
                <a:latin typeface="Microsoft YaHei"/>
              </a:rPr>
              <a:t>RL-GenRisk  |  仅训练集/验证集  |  测试集标签冻结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53796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27D98"/>
                </a:solidFill>
                <a:latin typeface="Microsoft YaHei"/>
              </a:rPr>
              <a:t>09</a:t>
            </a:r>
          </a:p>
        </p:txBody>
      </p:sp>
      <p:pic>
        <p:nvPicPr>
          <p:cNvPr id="8" name="Picture 7" descr="02_ddqn_vs_ban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72184"/>
            <a:ext cx="7406640" cy="31821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29016" y="1554480"/>
            <a:ext cx="3401568" cy="3017520"/>
          </a:xfrm>
          <a:prstGeom prst="roundRect">
            <a:avLst/>
          </a:prstGeom>
          <a:solidFill>
            <a:srgbClr val="FCEEEE"/>
          </a:solidFill>
          <a:ln>
            <a:solidFill>
              <a:srgbClr val="FC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5048" y="1847088"/>
            <a:ext cx="822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94C4C"/>
                </a:solidFill>
                <a:latin typeface="Microsoft YaHei"/>
              </a:rPr>
              <a:t>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221992"/>
            <a:ext cx="2779776" cy="16276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43B53"/>
                </a:solidFill>
                <a:latin typeface="Aptos"/>
              </a:rPr>
              <a:t>即时价值模型 在 已知基因优先 区间不低于 DDQN，且方差更小。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243B53"/>
                </a:solidFill>
                <a:latin typeface="Aptos"/>
              </a:rPr>
              <a:t>DDQN 在 新候选优先 区间有时更高，但不稳定、没有形成一致优势。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C94C4C"/>
                </a:solidFill>
                <a:latin typeface="Aptos"/>
              </a:rPr>
              <a:t>因此不能把性能归因于长期价值 下一状态估值。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5047488"/>
            <a:ext cx="1024128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解释：当前奖励主要由动作即时属性决定，未来回报可能不是主要信号。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144768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  <a:hlinkClick r:id="rId3"/>
              </a:rPr>
              <a:t>数据源：outputs/rlnecessity_20260907_152513_comparison/rl_necessity_summary.csv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79B8"/>
                </a:solidFill>
                <a:latin typeface="Microsoft YaHei"/>
              </a:rPr>
              <a:t>问题二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530352"/>
            <a:ext cx="11155680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66751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问题二：真实历史状态没有稳定优于 无历史 / 打乱历史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6492240"/>
            <a:ext cx="11155680" cy="0"/>
          </a:xfrm>
          <a:prstGeom prst="line">
            <a:avLst/>
          </a:prstGeom>
          <a:ln w="698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" y="6565392"/>
            <a:ext cx="7315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27D98"/>
                </a:solidFill>
                <a:latin typeface="Microsoft YaHei"/>
              </a:rPr>
              <a:t>RL-GenRisk  |  仅训练集/验证集  |  测试集标签冻结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53796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27D98"/>
                </a:solidFill>
                <a:latin typeface="Microsoft YaHei"/>
              </a:rPr>
              <a:t>10</a:t>
            </a:r>
          </a:p>
        </p:txBody>
      </p:sp>
      <p:pic>
        <p:nvPicPr>
          <p:cNvPr id="8" name="Picture 7" descr="03_history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472184"/>
            <a:ext cx="7424927" cy="3154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38160" y="1554480"/>
            <a:ext cx="3383280" cy="2999232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847088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79B8"/>
                </a:solidFill>
                <a:latin typeface="Microsoft YaHei"/>
              </a:rPr>
              <a:t>关键证据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221992"/>
            <a:ext cx="2788920" cy="1700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243B53"/>
                </a:solidFill>
                <a:latin typeface="Aptos"/>
              </a:rPr>
              <a:t>已知基因找回 端：无历史 的 NDCG 0.221，高于 完整历史 的 0.177。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43B53"/>
                </a:solidFill>
                <a:latin typeface="Aptos"/>
              </a:rPr>
              <a:t>新候选发现 端：完整历史 较高，但并未同时维持 已知基因找回。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C94C4C"/>
                </a:solidFill>
                <a:latin typeface="Aptos"/>
              </a:rPr>
              <a:t>三种模式接近或互有胜负，不支持“序列语义稳定有价值”。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5047488"/>
            <a:ext cx="1024128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A43"/>
                </a:solidFill>
                <a:latin typeface="Microsoft YaHei"/>
              </a:rPr>
              <a:t>路线决策：暂停序列 Q值学习，转向 即时价值模型 / 排序。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144768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  <a:hlinkClick r:id="rId3"/>
              </a:rPr>
              <a:t>数据源：outputs/historyablation_20260907_200151_comparison/history_ablation_summary.csv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79B8"/>
                </a:solidFill>
                <a:latin typeface="Microsoft YaHei"/>
              </a:rPr>
              <a:t>问题三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530352"/>
            <a:ext cx="11155680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66751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共享 MORL 的问题：条件响应、尺度与梯度修复后仍未稳定覆盖 独立权重模型前沿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6492240"/>
            <a:ext cx="11155680" cy="0"/>
          </a:xfrm>
          <a:prstGeom prst="line">
            <a:avLst/>
          </a:prstGeom>
          <a:ln w="698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" y="6565392"/>
            <a:ext cx="7315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27D98"/>
                </a:solidFill>
                <a:latin typeface="Microsoft YaHei"/>
              </a:rPr>
              <a:t>RL-GenRisk  |  仅训练集/验证集  |  测试集标签冻结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53796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27D98"/>
                </a:solidFill>
                <a:latin typeface="Microsoft YaHei"/>
              </a:rPr>
              <a:t>11</a:t>
            </a:r>
          </a:p>
        </p:txBody>
      </p:sp>
      <p:pic>
        <p:nvPicPr>
          <p:cNvPr id="8" name="Picture 7" descr="04_morl_frontier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499616"/>
            <a:ext cx="6400800" cy="29992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60336" y="1554480"/>
            <a:ext cx="4251960" cy="2944368"/>
          </a:xfrm>
          <a:prstGeom prst="roundRect">
            <a:avLst/>
          </a:prstGeom>
          <a:solidFill>
            <a:srgbClr val="FCEEEE"/>
          </a:solidFill>
          <a:ln>
            <a:solidFill>
              <a:srgbClr val="FC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16368" y="1837943"/>
            <a:ext cx="20116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94C4C"/>
                </a:solidFill>
                <a:latin typeface="Microsoft YaHei"/>
              </a:rPr>
              <a:t>过程中确认的问题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194560"/>
            <a:ext cx="3538728" cy="1847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270" b="1">
                <a:solidFill>
                  <a:srgbClr val="243B53"/>
                </a:solidFill>
                <a:latin typeface="Aptos"/>
              </a:rPr>
              <a:t>单值Q网络容易忽略输入的目标偏好。</a:t>
            </a:r>
          </a:p>
          <a:p>
            <a:pPr>
              <a:spcAft>
                <a:spcPts val="800"/>
              </a:spcAft>
            </a:pPr>
            <a:r>
              <a:rPr sz="1270" b="0">
                <a:solidFill>
                  <a:srgbClr val="243B53"/>
                </a:solidFill>
                <a:latin typeface="Aptos"/>
              </a:rPr>
              <a:t>两个目标的 目标误差 数值尺度不同，可能出现 数值尺度支配。</a:t>
            </a:r>
          </a:p>
          <a:p>
            <a:pPr>
              <a:spcAft>
                <a:spcPts val="800"/>
              </a:spcAft>
            </a:pPr>
            <a:r>
              <a:rPr sz="1270" b="0">
                <a:solidFill>
                  <a:srgbClr val="243B53"/>
                </a:solidFill>
                <a:latin typeface="Aptos"/>
              </a:rPr>
              <a:t>部分 随机种子 的目标梯度 余弦相似度 为负，说明共享 主干网络 存在冲突。</a:t>
            </a:r>
          </a:p>
          <a:p>
            <a:pPr>
              <a:spcAft>
                <a:spcPts val="800"/>
              </a:spcAft>
            </a:pPr>
            <a:r>
              <a:rPr sz="1270" b="1">
                <a:solidFill>
                  <a:srgbClr val="C94C4C"/>
                </a:solidFill>
                <a:latin typeface="Aptos"/>
              </a:rPr>
              <a:t>双目标Q与尺度校准 后仍只有 6/15 个 独立权重前沿点被覆盖。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992624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学术价值：这些负结果把问题从“继续调 训练奖励”缩小到“模型复杂性是否必要”。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144768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  <a:hlinkClick r:id="rId3"/>
              </a:rPr>
              <a:t>数据源：outputs/morl_*_comparison/morl_vs_scalar_frontier_coverage.csv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79B8"/>
                </a:solidFill>
                <a:latin typeface="Microsoft YaHei"/>
              </a:rPr>
              <a:t>当前方法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530352"/>
            <a:ext cx="11155680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66751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当前模型：可按目标偏好切换的双输出即时价值模型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6492240"/>
            <a:ext cx="11155680" cy="0"/>
          </a:xfrm>
          <a:prstGeom prst="line">
            <a:avLst/>
          </a:prstGeom>
          <a:ln w="698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" y="6565392"/>
            <a:ext cx="7315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27D98"/>
                </a:solidFill>
                <a:latin typeface="Microsoft YaHei"/>
              </a:rPr>
              <a:t>RL-GenRisk  |  仅训练集/验证集  |  测试集标签冻结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53796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27D98"/>
                </a:solidFill>
                <a:latin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618488"/>
            <a:ext cx="2834640" cy="3255264"/>
          </a:xfrm>
          <a:prstGeom prst="roundRect">
            <a:avLst/>
          </a:prstGeom>
          <a:solidFill>
            <a:srgbClr val="EAF3FA"/>
          </a:solidFill>
          <a:ln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23317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79B8"/>
                </a:solidFill>
                <a:latin typeface="Microsoft YaHei"/>
              </a:rPr>
              <a:t>共享输入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78024"/>
            <a:ext cx="23317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02A43"/>
                </a:solidFill>
                <a:latin typeface="Microsoft YaHei"/>
              </a:rPr>
              <a:t>当前状态 + 候选基因
多组学 + 蛋白互作网络特征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730752"/>
            <a:ext cx="23134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243B53"/>
                </a:solidFill>
                <a:latin typeface="Microsoft YaHei"/>
              </a:rPr>
              <a:t>保留候选基因上下文
但不做未来价值 下一状态估值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75304" y="3154680"/>
            <a:ext cx="603504" cy="0"/>
          </a:xfrm>
          <a:prstGeom prst="line">
            <a:avLst/>
          </a:prstGeom>
          <a:ln w="22860">
            <a:solidFill>
              <a:srgbClr val="147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61688" y="1618488"/>
            <a:ext cx="3026664" cy="13441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947672"/>
            <a:ext cx="245059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79B8"/>
                </a:solidFill>
                <a:latin typeface="Microsoft YaHei"/>
              </a:rPr>
              <a:t>找回已知基因的即时价值
Q_rec(s,a)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3538728"/>
            <a:ext cx="3026664" cy="13441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3858768"/>
            <a:ext cx="245059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8B8B"/>
                </a:solidFill>
                <a:latin typeface="Microsoft YaHei"/>
              </a:rPr>
              <a:t>发现新候选的即时价值
Q_disc(s,a)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43800" y="2286000"/>
            <a:ext cx="585216" cy="548640"/>
          </a:xfrm>
          <a:prstGeom prst="line">
            <a:avLst/>
          </a:prstGeom>
          <a:ln w="20320">
            <a:solidFill>
              <a:srgbClr val="147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543800" y="3639312"/>
            <a:ext cx="585216" cy="566928"/>
          </a:xfrm>
          <a:prstGeom prst="line">
            <a:avLst/>
          </a:prstGeom>
          <a:ln w="2032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21040" y="1618488"/>
            <a:ext cx="3246120" cy="3264408"/>
          </a:xfrm>
          <a:prstGeom prst="roundRect">
            <a:avLst/>
          </a:prstGeom>
          <a:solidFill>
            <a:srgbClr val="E8F6F3"/>
          </a:solidFill>
          <a:ln>
            <a:solidFill>
              <a:srgbClr val="E8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1901952"/>
            <a:ext cx="269748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8B8B"/>
                </a:solidFill>
                <a:latin typeface="Microsoft YaHei"/>
              </a:rPr>
              <a:t>推理时再组合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2468880"/>
            <a:ext cx="2624328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02A43"/>
                </a:solidFill>
                <a:latin typeface="Microsoft YaHei"/>
              </a:rPr>
              <a:t>综合分数 =
找回权重 × 找回价值
+ 发现权重 × 发现价值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4105656"/>
            <a:ext cx="26243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243B53"/>
                </a:solidFill>
                <a:latin typeface="Microsoft YaHei"/>
              </a:rPr>
              <a:t>一个模型覆盖多种取舍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" y="5276088"/>
            <a:ext cx="10890504" cy="5577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5449824"/>
            <a:ext cx="104241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102A43"/>
                </a:solidFill>
                <a:latin typeface="Microsoft YaHei"/>
              </a:rPr>
              <a:t>训练：两个输出分别学习各自的即时奖励；不估计下一状态价值；5 个已见权重均匀调度；统一逐步生成 Top-150 排序。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79B8"/>
                </a:solidFill>
                <a:latin typeface="Microsoft YaHei"/>
              </a:rPr>
              <a:t>阶段成果一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530352"/>
            <a:ext cx="11155680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66751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单输出共享即时价值模型：5个随机种子下已复现总体权衡方向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6492240"/>
            <a:ext cx="11155680" cy="0"/>
          </a:xfrm>
          <a:prstGeom prst="line">
            <a:avLst/>
          </a:prstGeom>
          <a:ln w="698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" y="6565392"/>
            <a:ext cx="7315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27D98"/>
                </a:solidFill>
                <a:latin typeface="Microsoft YaHei"/>
              </a:rPr>
              <a:t>RL-GenRisk  |  仅训练集/验证集  |  测试集标签冻结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53796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27D98"/>
                </a:solidFill>
                <a:latin typeface="Microsoft YaHei"/>
              </a:rPr>
              <a:t>13</a:t>
            </a:r>
          </a:p>
        </p:txBody>
      </p:sp>
      <p:pic>
        <p:nvPicPr>
          <p:cNvPr id="8" name="Picture 7" descr="05_shared_bandit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44752"/>
            <a:ext cx="7479792" cy="31821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74736" y="1545336"/>
            <a:ext cx="3346704" cy="3035808"/>
          </a:xfrm>
          <a:prstGeom prst="roundRect">
            <a:avLst/>
          </a:prstGeom>
          <a:solidFill>
            <a:srgbClr val="E8F6F3"/>
          </a:solidFill>
          <a:ln>
            <a:solidFill>
              <a:srgbClr val="E8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0768" y="1837943"/>
            <a:ext cx="1280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8B8B"/>
                </a:solidFill>
                <a:latin typeface="Microsoft YaHei"/>
              </a:rPr>
              <a:t>不错的结果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2212848"/>
            <a:ext cx="2788920" cy="1828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243B53"/>
                </a:solidFill>
                <a:latin typeface="Aptos"/>
              </a:rPr>
              <a:t>NDCG：0.141 → 0.094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243B53"/>
                </a:solidFill>
                <a:latin typeface="Aptos"/>
              </a:rPr>
              <a:t>Recall：0.248 → 0.176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243B53"/>
                </a:solidFill>
                <a:latin typeface="Aptos"/>
              </a:rPr>
              <a:t>新候选发现精度：0.195 → 0.260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243B53"/>
                </a:solidFill>
                <a:latin typeface="Aptos"/>
              </a:rPr>
              <a:t>富集倍数：2.10 → 2.81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08B8B"/>
                </a:solidFill>
                <a:latin typeface="Aptos"/>
              </a:rPr>
              <a:t>所有 5 随机种子 的总体方向一致。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5020056"/>
            <a:ext cx="103327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这证明一个共享即时模型可以响应 偏好权重，但中间权重的策略变化仍不够可控。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144768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  <a:hlinkClick r:id="rId3"/>
              </a:rPr>
              <a:t>数据源：outputs/preference_bandit_20260908_190650_5seed_extension/preference_bandit_summary.csv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79B8"/>
                </a:solidFill>
                <a:latin typeface="Microsoft YaHei"/>
              </a:rPr>
              <a:t>阶段成果二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530352"/>
            <a:ext cx="11155680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66751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双输出 结果：目标分离后，已知基因找回–新候选发现 权衡更清晰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6492240"/>
            <a:ext cx="11155680" cy="0"/>
          </a:xfrm>
          <a:prstGeom prst="line">
            <a:avLst/>
          </a:prstGeom>
          <a:ln w="698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" y="6565392"/>
            <a:ext cx="7315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27D98"/>
                </a:solidFill>
                <a:latin typeface="Microsoft YaHei"/>
              </a:rPr>
              <a:t>RL-GenRisk  |  仅训练集/验证集  |  测试集标签冻结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53796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27D98"/>
                </a:solidFill>
                <a:latin typeface="Microsoft YaHei"/>
              </a:rPr>
              <a:t>14</a:t>
            </a:r>
          </a:p>
        </p:txBody>
      </p:sp>
      <p:pic>
        <p:nvPicPr>
          <p:cNvPr id="8" name="Picture 7" descr="06_dual_head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62456"/>
            <a:ext cx="7516368" cy="4206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93024" y="1536192"/>
            <a:ext cx="3328416" cy="361188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21624" y="1837943"/>
            <a:ext cx="2697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A43"/>
                </a:solidFill>
                <a:latin typeface="Microsoft YaHei"/>
              </a:rPr>
              <a:t>端点变化（3 随机种子 均值）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2295144"/>
            <a:ext cx="1143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479B8"/>
                </a:solidFill>
                <a:latin typeface="Microsoft YaHei"/>
              </a:rPr>
              <a:t>已知基因找回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2578608"/>
            <a:ext cx="2697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02A43"/>
                </a:solidFill>
                <a:latin typeface="Microsoft YaHei"/>
              </a:rPr>
              <a:t>NDCG   0.227 → 0.086
Recall    0.427 → 0.160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30768" y="3328416"/>
            <a:ext cx="2743200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30768" y="3547872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8B8B"/>
                </a:solidFill>
                <a:latin typeface="Microsoft YaHei"/>
              </a:rPr>
              <a:t>新候选发现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3831336"/>
            <a:ext cx="27432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02A43"/>
                </a:solidFill>
                <a:latin typeface="Microsoft YaHei"/>
              </a:rPr>
              <a:t>发现精度  0.026 → 0.219
富集倍数  0.283 → 2.369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663440"/>
            <a:ext cx="274320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8B8B"/>
                </a:solidFill>
                <a:latin typeface="Microsoft YaHei"/>
              </a:rPr>
              <a:t>3/3 随机种子：已知基因找回 单调趋势系数 &lt; 0，新候选发现 单调趋势系数 &gt; 0。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144768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  <a:hlinkClick r:id="rId3"/>
              </a:rPr>
              <a:t>数据源：outputs/dual_head_bandit_20260908_210039_comparison/dual_head_summary.csv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79B8"/>
                </a:solidFill>
                <a:latin typeface="Microsoft YaHei"/>
              </a:rPr>
              <a:t>稳定性检查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530352"/>
            <a:ext cx="11155680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66751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随机种子 级轨迹：双输出 不是 条件失效，但 新候选发现 端仍有明显不稳定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6492240"/>
            <a:ext cx="11155680" cy="0"/>
          </a:xfrm>
          <a:prstGeom prst="line">
            <a:avLst/>
          </a:prstGeom>
          <a:ln w="698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" y="6565392"/>
            <a:ext cx="7315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27D98"/>
                </a:solidFill>
                <a:latin typeface="Microsoft YaHei"/>
              </a:rPr>
              <a:t>RL-GenRisk  |  仅训练集/验证集  |  测试集标签冻结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53796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27D98"/>
                </a:solidFill>
                <a:latin typeface="Microsoft YaHei"/>
              </a:rPr>
              <a:t>15</a:t>
            </a:r>
          </a:p>
        </p:txBody>
      </p:sp>
      <p:pic>
        <p:nvPicPr>
          <p:cNvPr id="8" name="Picture 7" descr="07_dual_head_seed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63040"/>
            <a:ext cx="6720840" cy="32278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79792" y="1554480"/>
            <a:ext cx="4050791" cy="3054096"/>
          </a:xfrm>
          <a:prstGeom prst="roundRect">
            <a:avLst/>
          </a:prstGeom>
          <a:solidFill>
            <a:srgbClr val="FCEEEE"/>
          </a:solidFill>
          <a:ln>
            <a:solidFill>
              <a:srgbClr val="FC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44968" y="1837943"/>
            <a:ext cx="1554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94C4C"/>
                </a:solidFill>
                <a:latin typeface="Microsoft YaHei"/>
              </a:rPr>
              <a:t>随机种子48 异常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7536" y="2221992"/>
            <a:ext cx="3328416" cy="15179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43B53"/>
                </a:solidFill>
                <a:latin typeface="Aptos"/>
              </a:rPr>
              <a:t>发现权重 0.8 → 1.0 时，已知基因找回 反而上升：NDCG 0.160 → 0.191。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C94C4C"/>
                </a:solidFill>
                <a:latin typeface="Aptos"/>
              </a:rPr>
              <a:t>新候选发现反而下降：精度 0.146 → 0.098。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C94C4C"/>
                </a:solidFill>
                <a:latin typeface="Aptos"/>
              </a:rPr>
              <a:t>纯 新候选发现 的跨 随机种子 名单重合度 仅 0.162 ± 0.170。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029200"/>
            <a:ext cx="104241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解释边界：线性分数并不保证离散 Top-K 集合连续，但目标方向反转说明该端点暂不可依赖。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144768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  <a:hlinkClick r:id="rId3"/>
              </a:rPr>
              <a:t>数据源：dual_head_per_seed.csv / dual_head_across_seed_stability.csv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79B8"/>
                </a:solidFill>
                <a:latin typeface="Microsoft YaHei"/>
              </a:rPr>
              <a:t>尚未解决的问题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530352"/>
            <a:ext cx="11155680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66751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没有通过的门槛：双输出 未改善未见 偏好权重 的插值平滑性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6492240"/>
            <a:ext cx="11155680" cy="0"/>
          </a:xfrm>
          <a:prstGeom prst="line">
            <a:avLst/>
          </a:prstGeom>
          <a:ln w="698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" y="6565392"/>
            <a:ext cx="7315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27D98"/>
                </a:solidFill>
                <a:latin typeface="Microsoft YaHei"/>
              </a:rPr>
              <a:t>RL-GenRisk  |  仅训练集/验证集  |  测试集标签冻结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53796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27D98"/>
                </a:solidFill>
                <a:latin typeface="Microsoft YaHei"/>
              </a:rPr>
              <a:t>16</a:t>
            </a:r>
          </a:p>
        </p:txBody>
      </p:sp>
      <p:pic>
        <p:nvPicPr>
          <p:cNvPr id="8" name="Picture 7" descr="08_interpolation_smooth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453896"/>
            <a:ext cx="6903720" cy="3154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1554480"/>
            <a:ext cx="3886200" cy="2999232"/>
          </a:xfrm>
          <a:prstGeom prst="roundRect">
            <a:avLst/>
          </a:prstGeom>
          <a:solidFill>
            <a:srgbClr val="FCEEEE"/>
          </a:solidFill>
          <a:ln>
            <a:solidFill>
              <a:srgbClr val="FC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91272" y="1837943"/>
            <a:ext cx="2286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94C4C"/>
                </a:solidFill>
                <a:latin typeface="Microsoft YaHei"/>
              </a:rPr>
              <a:t>双输出 vs 单 输出头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212848"/>
            <a:ext cx="3127248" cy="1508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</a:pPr>
            <a:r>
              <a:rPr sz="1350" b="1">
                <a:solidFill>
                  <a:srgbClr val="C94C4C"/>
                </a:solidFill>
                <a:latin typeface="Aptos"/>
              </a:rPr>
              <a:t>相邻 名单重合度：0.736 &lt; 0.887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243B53"/>
                </a:solidFill>
                <a:latin typeface="Aptos"/>
              </a:rPr>
              <a:t>NDCG 落入相邻区间：58.3% &lt; 66.7%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243B53"/>
                </a:solidFill>
                <a:latin typeface="Aptos"/>
              </a:rPr>
              <a:t>Recall：66.7% &lt; 91.7%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243B53"/>
                </a:solidFill>
                <a:latin typeface="Aptos"/>
              </a:rPr>
              <a:t>新候选发现：83.3% &lt; 91.7%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001768"/>
            <a:ext cx="103327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94C4C"/>
                </a:solidFill>
                <a:latin typeface="Microsoft YaHei"/>
              </a:rPr>
              <a:t>因此不能宣称连续 偏好权重 泛化；按预设门槛，不扩到 5 随机种子。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144768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  <a:hlinkClick r:id="rId3"/>
              </a:rPr>
              <a:t>数据源：interpolation_smoothness_comparison.csv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79B8"/>
                </a:solidFill>
                <a:latin typeface="Microsoft YaHei"/>
              </a:rPr>
              <a:t>模型对比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530352"/>
            <a:ext cx="11155680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66751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更细的证据：排序跳变集中在 新候选发现 端，双输出 也未全面支配 独立权重即时模型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6492240"/>
            <a:ext cx="11155680" cy="0"/>
          </a:xfrm>
          <a:prstGeom prst="line">
            <a:avLst/>
          </a:prstGeom>
          <a:ln w="698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" y="6565392"/>
            <a:ext cx="7315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27D98"/>
                </a:solidFill>
                <a:latin typeface="Microsoft YaHei"/>
              </a:rPr>
              <a:t>RL-GenRisk  |  仅训练集/验证集  |  测试集标签冻结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53796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27D98"/>
                </a:solidFill>
                <a:latin typeface="Microsoft YaHei"/>
              </a:rPr>
              <a:t>17</a:t>
            </a:r>
          </a:p>
        </p:txBody>
      </p:sp>
      <p:pic>
        <p:nvPicPr>
          <p:cNvPr id="8" name="Picture 7" descr="09_dual_head_adjacent_jac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417320"/>
            <a:ext cx="5650992" cy="2240280"/>
          </a:xfrm>
          <a:prstGeom prst="rect">
            <a:avLst/>
          </a:prstGeom>
        </p:spPr>
      </p:pic>
      <p:pic>
        <p:nvPicPr>
          <p:cNvPr id="9" name="Picture 8" descr="10_dual_minus_sca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417320"/>
            <a:ext cx="5477256" cy="2240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2648" y="4023360"/>
            <a:ext cx="10972800" cy="129844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288536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79B8"/>
                </a:solidFill>
                <a:latin typeface="Microsoft YaHei"/>
              </a:rPr>
              <a:t>独立判断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7672" y="4224528"/>
            <a:ext cx="9098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2A43"/>
                </a:solidFill>
                <a:latin typeface="Microsoft YaHei"/>
              </a:rPr>
              <a:t>双输出模型的价值是让两个目标分工更容易解释、权衡更明显，而不是让所有指标都更高。与每个权重单独训练的即时模型只有随机种子42/45可严格配对（n=2），不足以作显著性结论。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47672" y="4855464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4C4C"/>
                </a:solidFill>
                <a:latin typeface="Microsoft YaHei"/>
              </a:rPr>
              <a:t>已知基因找回 最佳均值 NDCG 0.235，仍低于 静态突变频率排序 0.283。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144768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  <a:hlinkClick r:id="rId4"/>
              </a:rPr>
              <a:t>数据源：dual_minus_scalar_bandit_paired.csv（paired n=2）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79B8"/>
                </a:solidFill>
                <a:latin typeface="Microsoft YaHei"/>
              </a:rPr>
              <a:t>当前决策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530352"/>
            <a:ext cx="11155680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66751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当前最稳妥的产品形态：三档固定策略，而不是连续滑杆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6492240"/>
            <a:ext cx="11155680" cy="0"/>
          </a:xfrm>
          <a:prstGeom prst="line">
            <a:avLst/>
          </a:prstGeom>
          <a:ln w="698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" y="6565392"/>
            <a:ext cx="7315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27D98"/>
                </a:solidFill>
                <a:latin typeface="Microsoft YaHei"/>
              </a:rPr>
              <a:t>RL-GenRisk  |  仅训练集/验证集  |  测试集标签冻结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53796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27D98"/>
                </a:solidFill>
                <a:latin typeface="Microsoft YaHei"/>
              </a:rPr>
              <a:t>18</a:t>
            </a:r>
          </a:p>
        </p:txBody>
      </p:sp>
      <p:pic>
        <p:nvPicPr>
          <p:cNvPr id="8" name="Picture 7" descr="11_three_fixed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444752"/>
            <a:ext cx="6291072" cy="31821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59752" y="1545336"/>
            <a:ext cx="4334256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9752" y="1545336"/>
            <a:ext cx="82296" cy="987552"/>
          </a:xfrm>
          <a:prstGeom prst="rect">
            <a:avLst/>
          </a:prstGeom>
          <a:solidFill>
            <a:srgbClr val="1479B8"/>
          </a:solidFill>
          <a:ln>
            <a:solidFill>
              <a:srgbClr val="14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1700784"/>
            <a:ext cx="19019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79B8"/>
                </a:solidFill>
                <a:latin typeface="Microsoft YaHei"/>
              </a:rPr>
              <a:t>已知基因优先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709928"/>
            <a:ext cx="1737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27D98"/>
                </a:solidFill>
                <a:latin typeface="Microsoft YaHei"/>
              </a:rPr>
              <a:t>w=(0.8,0.2)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029967"/>
            <a:ext cx="35661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02A43"/>
                </a:solidFill>
                <a:latin typeface="Microsoft YaHei"/>
              </a:rPr>
              <a:t>NDCG 0.235
Recall 0.440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59752" y="2752344"/>
            <a:ext cx="4334256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59752" y="2752344"/>
            <a:ext cx="82296" cy="987552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907791"/>
            <a:ext cx="19019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8B8B"/>
                </a:solidFill>
                <a:latin typeface="Microsoft YaHei"/>
              </a:rPr>
              <a:t>均衡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916936"/>
            <a:ext cx="1737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27D98"/>
                </a:solidFill>
                <a:latin typeface="Microsoft YaHei"/>
              </a:rPr>
              <a:t>w=(0.5,0.5)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236976"/>
            <a:ext cx="35661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02A43"/>
                </a:solidFill>
                <a:latin typeface="Microsoft YaHei"/>
              </a:rPr>
              <a:t>NDCG 0.222
富集倍数 0.753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59752" y="3959352"/>
            <a:ext cx="4334256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59752" y="3959352"/>
            <a:ext cx="82296" cy="987552"/>
          </a:xfrm>
          <a:prstGeom prst="rect">
            <a:avLst/>
          </a:prstGeom>
          <a:solidFill>
            <a:srgbClr val="E08A31"/>
          </a:solidFill>
          <a:ln>
            <a:solidFill>
              <a:srgbClr val="E0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4114800"/>
            <a:ext cx="19019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08A31"/>
                </a:solidFill>
                <a:latin typeface="Microsoft YaHei"/>
              </a:rPr>
              <a:t>新候选优先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123944"/>
            <a:ext cx="1737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27D98"/>
                </a:solidFill>
                <a:latin typeface="Microsoft YaHei"/>
              </a:rPr>
              <a:t>w=(0.2,0.8)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443984"/>
            <a:ext cx="35661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02A43"/>
                </a:solidFill>
                <a:latin typeface="Microsoft YaHei"/>
              </a:rPr>
              <a:t>发现精度 0.156
富集倍数 1.680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5074920"/>
            <a:ext cx="10881360" cy="539496"/>
          </a:xfrm>
          <a:prstGeom prst="roundRect">
            <a:avLst/>
          </a:prstGeom>
          <a:solidFill>
            <a:srgbClr val="FCEEEE"/>
          </a:solidFill>
          <a:ln>
            <a:solidFill>
              <a:srgbClr val="FC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248656"/>
            <a:ext cx="1040587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C94C4C"/>
                </a:solidFill>
                <a:latin typeface="Microsoft YaHei"/>
              </a:rPr>
              <a:t>暂不采用 w=(0,1)：纯 新候选发现 端跨 随机种子 最不稳定；三档仍需在最终协议冻结前完成候选名单审计。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79B8"/>
                </a:solidFill>
                <a:latin typeface="Microsoft YaHei"/>
              </a:rPr>
              <a:t>预期成果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530352"/>
            <a:ext cx="11155680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66751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预期成果：从“模型竞赛”转为可复现、可解释的候选生成框架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6492240"/>
            <a:ext cx="11155680" cy="0"/>
          </a:xfrm>
          <a:prstGeom prst="line">
            <a:avLst/>
          </a:prstGeom>
          <a:ln w="698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" y="6565392"/>
            <a:ext cx="7315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27D98"/>
                </a:solidFill>
                <a:latin typeface="Microsoft YaHei"/>
              </a:rPr>
              <a:t>RL-GenRisk  |  仅训练集/验证集  |  测试集标签冻结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53796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27D98"/>
                </a:solidFill>
                <a:latin typeface="Microsoft YaHe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18488"/>
            <a:ext cx="2304288" cy="220370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18488"/>
            <a:ext cx="2304288" cy="100584"/>
          </a:xfrm>
          <a:prstGeom prst="rect">
            <a:avLst/>
          </a:prstGeom>
          <a:solidFill>
            <a:srgbClr val="1479B8"/>
          </a:solidFill>
          <a:ln>
            <a:solidFill>
              <a:srgbClr val="14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993392"/>
            <a:ext cx="19019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79B8"/>
                </a:solidFill>
                <a:latin typeface="Microsoft YaHei"/>
              </a:rPr>
              <a:t>方法成果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42616"/>
            <a:ext cx="1938528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2A43"/>
                </a:solidFill>
                <a:latin typeface="Microsoft YaHei"/>
              </a:rPr>
              <a:t>双目标即时价值框架
+ 三档可解释策略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618488"/>
            <a:ext cx="2304288" cy="220370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1618488"/>
            <a:ext cx="2304288" cy="100584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993392"/>
            <a:ext cx="19019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8B8B"/>
                </a:solidFill>
                <a:latin typeface="Microsoft YaHei"/>
              </a:rPr>
              <a:t>评价成果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642616"/>
            <a:ext cx="1938528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2A43"/>
                </a:solidFill>
                <a:latin typeface="Microsoft YaHei"/>
              </a:rPr>
              <a:t>已知基因找回 / 新候选发现
双轨评价与偏置审计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1618488"/>
            <a:ext cx="2304288" cy="220370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1618488"/>
            <a:ext cx="2304288" cy="100584"/>
          </a:xfrm>
          <a:prstGeom prst="rect">
            <a:avLst/>
          </a:prstGeom>
          <a:solidFill>
            <a:srgbClr val="E08A31"/>
          </a:solidFill>
          <a:ln>
            <a:solidFill>
              <a:srgbClr val="E0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1993392"/>
            <a:ext cx="19019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E08A31"/>
                </a:solidFill>
                <a:latin typeface="Microsoft YaHei"/>
              </a:rPr>
              <a:t>数据成果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642616"/>
            <a:ext cx="1938528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2A43"/>
                </a:solidFill>
                <a:latin typeface="Microsoft YaHei"/>
              </a:rPr>
              <a:t>三套 Top-150 候选表
跨随机种子稳定核心集合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43416" y="1618488"/>
            <a:ext cx="2304288" cy="220370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43416" y="1618488"/>
            <a:ext cx="2304288" cy="100584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4584" y="1993392"/>
            <a:ext cx="19019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2A43"/>
                </a:solidFill>
                <a:latin typeface="Microsoft YaHei"/>
              </a:rPr>
              <a:t>学术成果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2642616"/>
            <a:ext cx="1938528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2A43"/>
                </a:solidFill>
                <a:latin typeface="Microsoft YaHei"/>
              </a:rPr>
              <a:t>正结果 + 负结果
组成完整路线证据链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4315968"/>
            <a:ext cx="10744200" cy="1024128"/>
          </a:xfrm>
          <a:prstGeom prst="roundRect">
            <a:avLst/>
          </a:prstGeom>
          <a:solidFill>
            <a:srgbClr val="E8F6F3"/>
          </a:solidFill>
          <a:ln>
            <a:solidFill>
              <a:srgbClr val="E8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562856"/>
            <a:ext cx="1143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B8B"/>
                </a:solidFill>
                <a:latin typeface="Microsoft YaHei"/>
              </a:rPr>
              <a:t>最终可交付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489704"/>
            <a:ext cx="882396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A43"/>
                </a:solidFill>
                <a:latin typeface="Microsoft YaHei"/>
              </a:rPr>
              <a:t>可复现实验脚本与固定协议 · 三档候选排名及证据注释 · 稳定性/帕累托图表 · 完全冻结后一次性测试集报告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5010912"/>
            <a:ext cx="8046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94C4C"/>
                </a:solidFill>
                <a:latin typeface="Microsoft YaHei"/>
              </a:rPr>
              <a:t>不会提前承诺“发现新 驱动基因”；候选仍需外部数据库、文献或实验验证。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79B8"/>
                </a:solidFill>
                <a:latin typeface="Microsoft YaHei"/>
              </a:rPr>
              <a:t>后续工作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530352"/>
            <a:ext cx="11155680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66751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后续工作：只围绕三档策略做冻结、审计和最终验证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6492240"/>
            <a:ext cx="11155680" cy="0"/>
          </a:xfrm>
          <a:prstGeom prst="line">
            <a:avLst/>
          </a:prstGeom>
          <a:ln w="698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" y="6565392"/>
            <a:ext cx="7315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27D98"/>
                </a:solidFill>
                <a:latin typeface="Microsoft YaHei"/>
              </a:rPr>
              <a:t>RL-GenRisk  |  仅训练集/验证集  |  测试集标签冻结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53796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27D98"/>
                </a:solidFill>
                <a:latin typeface="Microsoft YaHe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517904"/>
            <a:ext cx="603504" cy="603504"/>
          </a:xfrm>
          <a:prstGeom prst="roundRect">
            <a:avLst/>
          </a:prstGeom>
          <a:solidFill>
            <a:srgbClr val="1479B8"/>
          </a:solidFill>
          <a:ln>
            <a:solidFill>
              <a:srgbClr val="14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82495"/>
            <a:ext cx="53035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554480"/>
            <a:ext cx="28346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A43"/>
                </a:solidFill>
                <a:latin typeface="Microsoft YaHei"/>
              </a:rPr>
              <a:t>冻结三档定义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545336"/>
            <a:ext cx="663854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243B53"/>
                </a:solidFill>
                <a:latin typeface="Microsoft YaHei"/>
              </a:rPr>
              <a:t>固定 (0.8,0.2) / (0.5,0.5) / (0.2,0.8)，不再连续插值。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0120" y="2148839"/>
            <a:ext cx="0" cy="402337"/>
          </a:xfrm>
          <a:prstGeom prst="line">
            <a:avLst/>
          </a:prstGeom>
          <a:ln w="1524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67512" y="2587752"/>
            <a:ext cx="603504" cy="603504"/>
          </a:xfrm>
          <a:prstGeom prst="round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752344"/>
            <a:ext cx="53035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624328"/>
            <a:ext cx="28346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A43"/>
                </a:solidFill>
                <a:latin typeface="Microsoft YaHei"/>
              </a:rPr>
              <a:t>候选稳定性审计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615184"/>
            <a:ext cx="663854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243B53"/>
                </a:solidFill>
                <a:latin typeface="Microsoft YaHei"/>
              </a:rPr>
              <a:t>每档报告跨 随机种子 共识基因、名单重合度、证据组成与突变频率分层。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0120" y="3218688"/>
            <a:ext cx="0" cy="402336"/>
          </a:xfrm>
          <a:prstGeom prst="line">
            <a:avLst/>
          </a:prstGeom>
          <a:ln w="1524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7512" y="3657600"/>
            <a:ext cx="603504" cy="603504"/>
          </a:xfrm>
          <a:prstGeom prst="roundRect">
            <a:avLst/>
          </a:prstGeom>
          <a:solidFill>
            <a:srgbClr val="E08A31"/>
          </a:solidFill>
          <a:ln>
            <a:solidFill>
              <a:srgbClr val="E0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822191"/>
            <a:ext cx="53035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3694176"/>
            <a:ext cx="28346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A43"/>
                </a:solidFill>
                <a:latin typeface="Microsoft YaHei"/>
              </a:rPr>
              <a:t>公平基线比较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685032"/>
            <a:ext cx="663854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243B53"/>
                </a:solidFill>
                <a:latin typeface="Microsoft YaHei"/>
              </a:rPr>
              <a:t>与独立权重即时模型、图卷积网络/多层感知机、突变频率/网络度数在同一口径下比较。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0120" y="4288536"/>
            <a:ext cx="0" cy="402336"/>
          </a:xfrm>
          <a:prstGeom prst="line">
            <a:avLst/>
          </a:prstGeom>
          <a:ln w="1524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67512" y="4727448"/>
            <a:ext cx="603504" cy="603504"/>
          </a:xfrm>
          <a:prstGeom prst="roundRect">
            <a:avLst/>
          </a:prstGeom>
          <a:solidFill>
            <a:srgbClr val="C94C4C"/>
          </a:solidFill>
          <a:ln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4892040"/>
            <a:ext cx="53035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764024"/>
            <a:ext cx="28346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A43"/>
                </a:solidFill>
                <a:latin typeface="Microsoft YaHei"/>
              </a:rPr>
              <a:t>冻结后最终评估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4754880"/>
            <a:ext cx="663854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243B53"/>
                </a:solidFill>
                <a:latin typeface="Microsoft YaHei"/>
              </a:rPr>
              <a:t>先锁定模型、指标和候选规则；测试集 仅一次性使用且不反向决策。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870448"/>
            <a:ext cx="10817352" cy="411480"/>
          </a:xfrm>
          <a:prstGeom prst="roundRect">
            <a:avLst/>
          </a:prstGeom>
          <a:solidFill>
            <a:srgbClr val="FCEEEE"/>
          </a:solidFill>
          <a:ln>
            <a:solidFill>
              <a:srgbClr val="FC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5980176"/>
            <a:ext cx="103875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C94C4C"/>
                </a:solidFill>
                <a:latin typeface="Microsoft YaHei"/>
              </a:rPr>
              <a:t>继续暂停：多目标强化学习修补、双深度Q网络、梯度冲突/尺度校准、训练奖励调参、基因调控网络、新癌种和额外随机种子训练。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79B8"/>
                </a:solidFill>
                <a:latin typeface="Microsoft YaHei"/>
              </a:rPr>
              <a:t>结论边界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530352"/>
            <a:ext cx="11155680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66751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可以说什么、不能说什么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6492240"/>
            <a:ext cx="11155680" cy="0"/>
          </a:xfrm>
          <a:prstGeom prst="line">
            <a:avLst/>
          </a:prstGeom>
          <a:ln w="698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" y="6565392"/>
            <a:ext cx="7315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27D98"/>
                </a:solidFill>
                <a:latin typeface="Microsoft YaHei"/>
              </a:rPr>
              <a:t>RL-GenRisk  |  仅训练集/验证集  |  测试集标签冻结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53796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27D98"/>
                </a:solidFill>
                <a:latin typeface="Microsoft YaHe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72768"/>
            <a:ext cx="3401568" cy="3931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72768"/>
            <a:ext cx="3401568" cy="109728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38528"/>
            <a:ext cx="288036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8B8B"/>
                </a:solidFill>
                <a:latin typeface="Microsoft YaHei"/>
              </a:rPr>
              <a:t>已被数据支持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" y="2624327"/>
            <a:ext cx="91440" cy="9144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523744"/>
            <a:ext cx="2697479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B53"/>
                </a:solidFill>
                <a:latin typeface="Aptos"/>
              </a:rPr>
              <a:t>已知基因找回–新候选发现 此消彼长的权衡 存在。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" y="3428999"/>
            <a:ext cx="91440" cy="9144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328415"/>
            <a:ext cx="2697479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B53"/>
                </a:solidFill>
                <a:latin typeface="Aptos"/>
              </a:rPr>
              <a:t>即时价值模型 足以复现主要权衡。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" y="4233672"/>
            <a:ext cx="91440" cy="9144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4133087"/>
            <a:ext cx="2697479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B53"/>
                </a:solidFill>
                <a:latin typeface="Aptos"/>
              </a:rPr>
              <a:t>双输出 能让偏好稳定改变总体方向。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572768"/>
            <a:ext cx="3401568" cy="3931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572768"/>
            <a:ext cx="3401568" cy="109728"/>
          </a:xfrm>
          <a:prstGeom prst="rect">
            <a:avLst/>
          </a:prstGeom>
          <a:solidFill>
            <a:srgbClr val="C94C4C"/>
          </a:solidFill>
          <a:ln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1938528"/>
            <a:ext cx="288036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4C4C"/>
                </a:solidFill>
                <a:latin typeface="Microsoft YaHei"/>
              </a:rPr>
              <a:t>尚未被支持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62856" y="2624327"/>
            <a:ext cx="91440" cy="91440"/>
          </a:xfrm>
          <a:prstGeom prst="rect">
            <a:avLst/>
          </a:prstGeom>
          <a:solidFill>
            <a:srgbClr val="C94C4C"/>
          </a:solidFill>
          <a:ln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45736" y="2523744"/>
            <a:ext cx="2697479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B53"/>
                </a:solidFill>
                <a:latin typeface="Aptos"/>
              </a:rPr>
              <a:t>DDQN 有必要或优于 即时价值模型。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62856" y="3428999"/>
            <a:ext cx="91440" cy="91440"/>
          </a:xfrm>
          <a:prstGeom prst="rect">
            <a:avLst/>
          </a:prstGeom>
          <a:solidFill>
            <a:srgbClr val="C94C4C"/>
          </a:solidFill>
          <a:ln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45736" y="3328415"/>
            <a:ext cx="2697479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B53"/>
                </a:solidFill>
                <a:latin typeface="Aptos"/>
              </a:rPr>
              <a:t>连续 偏好权重 可以平滑泛化。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62856" y="4233672"/>
            <a:ext cx="91440" cy="91440"/>
          </a:xfrm>
          <a:prstGeom prst="rect">
            <a:avLst/>
          </a:prstGeom>
          <a:solidFill>
            <a:srgbClr val="C94C4C"/>
          </a:solidFill>
          <a:ln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45736" y="4133087"/>
            <a:ext cx="2697479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B53"/>
                </a:solidFill>
                <a:latin typeface="Aptos"/>
              </a:rPr>
              <a:t>当前模型超过所有静态基线。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1572768"/>
            <a:ext cx="3401568" cy="3931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91856" y="1572768"/>
            <a:ext cx="3401568" cy="109728"/>
          </a:xfrm>
          <a:prstGeom prst="rect">
            <a:avLst/>
          </a:prstGeom>
          <a:solidFill>
            <a:srgbClr val="E08A31"/>
          </a:solidFill>
          <a:ln>
            <a:solidFill>
              <a:srgbClr val="E0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0456" y="1938528"/>
            <a:ext cx="288036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08A31"/>
                </a:solidFill>
                <a:latin typeface="Microsoft YaHei"/>
              </a:rPr>
              <a:t>主要限制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38744" y="2624327"/>
            <a:ext cx="91440" cy="91440"/>
          </a:xfrm>
          <a:prstGeom prst="rect">
            <a:avLst/>
          </a:prstGeom>
          <a:solidFill>
            <a:srgbClr val="E08A31"/>
          </a:solidFill>
          <a:ln>
            <a:solidFill>
              <a:srgbClr val="E0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21624" y="2523744"/>
            <a:ext cx="2697479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B53"/>
                </a:solidFill>
                <a:latin typeface="Aptos"/>
              </a:rPr>
              <a:t>最新实验仅 3 随机种子；独立权重 配对仅 n=2。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4" y="3428999"/>
            <a:ext cx="91440" cy="91440"/>
          </a:xfrm>
          <a:prstGeom prst="rect">
            <a:avLst/>
          </a:prstGeom>
          <a:solidFill>
            <a:srgbClr val="E08A31"/>
          </a:solidFill>
          <a:ln>
            <a:solidFill>
              <a:srgbClr val="E0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21624" y="3328415"/>
            <a:ext cx="2697479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B53"/>
                </a:solidFill>
                <a:latin typeface="Aptos"/>
              </a:rPr>
              <a:t>验证集 只有 25 个标签，Recall 步长为 0.04。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38744" y="4233672"/>
            <a:ext cx="91440" cy="91440"/>
          </a:xfrm>
          <a:prstGeom prst="rect">
            <a:avLst/>
          </a:prstGeom>
          <a:solidFill>
            <a:srgbClr val="E08A31"/>
          </a:solidFill>
          <a:ln>
            <a:solidFill>
              <a:srgbClr val="E0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21624" y="4133087"/>
            <a:ext cx="2697479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B53"/>
                </a:solidFill>
                <a:latin typeface="Aptos"/>
              </a:rPr>
              <a:t>新候选发现 使用证据代理，尚非外部真实标签。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" y="5852160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02A43"/>
                </a:solidFill>
                <a:latin typeface="Microsoft YaHei"/>
              </a:rPr>
              <a:t>报告原则：事实、推断和建议分开；所有模型选择均不读取 测试集。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79B8"/>
                </a:solidFill>
                <a:latin typeface="Microsoft YaHei"/>
              </a:rPr>
              <a:t>参考文献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530352"/>
            <a:ext cx="11155680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66751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方法背景与概念来源（点击标题可访问原文）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6492240"/>
            <a:ext cx="11155680" cy="0"/>
          </a:xfrm>
          <a:prstGeom prst="line">
            <a:avLst/>
          </a:prstGeom>
          <a:ln w="698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" y="6565392"/>
            <a:ext cx="7315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27D98"/>
                </a:solidFill>
                <a:latin typeface="Microsoft YaHei"/>
              </a:rPr>
              <a:t>RL-GenRisk  |  仅训练集/验证集  |  测试集标签冻结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53796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27D98"/>
                </a:solidFill>
                <a:latin typeface="Microsoft YaHe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591056"/>
            <a:ext cx="10844784" cy="1088136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" y="1591056"/>
            <a:ext cx="82296" cy="1088136"/>
          </a:xfrm>
          <a:prstGeom prst="rect">
            <a:avLst/>
          </a:prstGeom>
          <a:solidFill>
            <a:srgbClr val="1479B8"/>
          </a:solidFill>
          <a:ln>
            <a:solidFill>
              <a:srgbClr val="14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73936"/>
            <a:ext cx="9994392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479B8"/>
                </a:solidFill>
                <a:latin typeface="Microsoft YaHei"/>
                <a:hlinkClick r:id="rId2"/>
              </a:rPr>
              <a:t>Roijers et al., 2013 — A Survey of Multi-Objective Sequential Decision-Making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57984"/>
            <a:ext cx="996696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多目标序列决策需要明确偏好、加权合成 与策略覆盖集合；为本项目的 已知基因找回–新候选发现 表述提供方法学背景。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2944368"/>
            <a:ext cx="10844784" cy="1088136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" y="2944368"/>
            <a:ext cx="82296" cy="1088136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27248"/>
            <a:ext cx="9994392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479B8"/>
                </a:solidFill>
                <a:latin typeface="Microsoft YaHei"/>
                <a:hlinkClick r:id="rId3"/>
              </a:rPr>
              <a:t>Langford &amp; Zhang, 2007 — The Epoch-Greedy Algorithm for Multi-armed Bandits with Side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11296"/>
            <a:ext cx="996696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即时价值模型根据当前可观测信息选择动作并学习即时反馈，是介于监督排序与完整序列强化学习之间的简化决策模型。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4297680"/>
            <a:ext cx="10844784" cy="1088136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" y="4297680"/>
            <a:ext cx="82296" cy="1088136"/>
          </a:xfrm>
          <a:prstGeom prst="rect">
            <a:avLst/>
          </a:prstGeom>
          <a:solidFill>
            <a:srgbClr val="E08A31"/>
          </a:solidFill>
          <a:ln>
            <a:solidFill>
              <a:srgbClr val="E0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480560"/>
            <a:ext cx="9994392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479B8"/>
                </a:solidFill>
                <a:latin typeface="Microsoft YaHei"/>
                <a:hlinkClick r:id="rId4"/>
              </a:rPr>
              <a:t>Hayes et al., 2022 — A Practical Guide to Multi-Objective Reinforcement Learning and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864608"/>
            <a:ext cx="996696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强调目标定义、效用形式、评价协议和覆盖集合应先于算法复杂化；与本项目的证据驱动决策门一致。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" y="5715000"/>
            <a:ext cx="10844784" cy="484632"/>
          </a:xfrm>
          <a:prstGeom prst="roundRect">
            <a:avLst/>
          </a:prstGeom>
          <a:solidFill>
            <a:srgbClr val="EAF3FA"/>
          </a:solidFill>
          <a:ln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61304"/>
            <a:ext cx="1035100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2A43"/>
                </a:solidFill>
                <a:latin typeface="Microsoft YaHei"/>
              </a:rPr>
              <a:t>项目数值来源均为本地 outputs/ 与 README；外部文献仅用于解释方法背景，不用于替代本项目实验结论。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RL-GenRisk 阶段性学术汇报（2026-09-09）</dc:title>
  <dc:subject>从序列强化学习到偏好条件化双目标排序</dc:subject>
  <dc:creator>RL-GenRisk project</dc:creator>
  <cp:keywords/>
  <dc:description>Generated from Train/Validation artifacts only; Test labels were not read.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